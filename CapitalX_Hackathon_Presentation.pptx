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6B48"/>
                </a:solidFill>
                <a:latin typeface="Arial"/>
              </a:defRPr>
            </a:pPr>
            <a:r>
              <a:t>CORRELATION, VOLATILITY &amp; AI-POWERED RISK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6B48"/>
                </a:solidFill>
                <a:latin typeface="Arial Black"/>
              </a:defRPr>
            </a:pPr>
            <a:r>
              <a:t>CAPITALX: PORTFOLIO</a:t>
            </a:r>
            <a:br/>
            <a:r>
              <a:t>OPTIMIZATION &amp; AI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Arial"/>
              </a:defRPr>
            </a:pPr>
            <a:r>
              <a:t>Mathematical Mean-Variance Optimization, Spectral Risk Analysis,</a:t>
            </a:r>
            <a:br/>
            <a:r>
              <a:t>and Plain-English AI Fiduciary Diagnostics for Smarter Investing.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6B48"/>
                </a:solidFill>
                <a:latin typeface="Arial Black"/>
              </a:defRPr>
            </a:pPr>
            <a:r>
              <a:t>PROBLEMS</a:t>
            </a:r>
            <a:br/>
            <a:r>
              <a:t>EXISTING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73152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6B48"/>
                </a:solidFill>
                <a:latin typeface="Arial Black"/>
              </a:defRPr>
            </a:pPr>
            <a:r>
              <a:t>OUR</a:t>
            </a:r>
            <a:br/>
            <a:r>
              <a:t>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Bef>
                <a:spcPts val="0"/>
              </a:spcBef>
              <a:defRPr sz="1200" b="1">
                <a:solidFill>
                  <a:srgbClr val="0D6B48"/>
                </a:solidFill>
                <a:latin typeface="Arial"/>
              </a:defRPr>
            </a:pPr>
            <a:r>
              <a:t>01 — Hidden Correlation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Investors hold multiple stocks (e.g. AAPL, MSFT, NVDA) that move in lockstep without realizing it.</a:t>
            </a:r>
          </a:p>
          <a:p>
            <a:pPr>
              <a:spcBef>
                <a:spcPts val="800"/>
              </a:spcBef>
              <a:defRPr sz="1200" b="1">
                <a:solidFill>
                  <a:srgbClr val="0D6B48"/>
                </a:solidFill>
                <a:latin typeface="Arial"/>
              </a:defRPr>
            </a:pPr>
            <a:r>
              <a:t>02 — False Diversification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Holding 5 tech stocks only provides ~1.3 Effective Bets, leaving capital vulnerable to sector crashes.</a:t>
            </a:r>
          </a:p>
          <a:p>
            <a:pPr>
              <a:spcBef>
                <a:spcPts val="800"/>
              </a:spcBef>
              <a:defRPr sz="1200" b="1">
                <a:solidFill>
                  <a:srgbClr val="0D6B48"/>
                </a:solidFill>
                <a:latin typeface="Arial"/>
              </a:defRPr>
            </a:pPr>
            <a:r>
              <a:t>03 — Inefficient Capital Allocation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Investors allocate money based on intuition or equal-weighting rather than risk-return efficiency.</a:t>
            </a:r>
          </a:p>
          <a:p>
            <a:pPr>
              <a:spcBef>
                <a:spcPts val="800"/>
              </a:spcBef>
              <a:defRPr sz="1200" b="1">
                <a:solidFill>
                  <a:srgbClr val="0D6B48"/>
                </a:solidFill>
                <a:latin typeface="Arial"/>
              </a:defRPr>
            </a:pPr>
            <a:r>
              <a:t>04 — Lack of Plain-English Translation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Existing tools dump raw covariance numbers, kurtosis, and Greek formulas without actionable trade advice.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4114800"/>
          </a:xfrm>
          <a:prstGeom prst="roundRect">
            <a:avLst/>
          </a:prstGeom>
          <a:solidFill>
            <a:srgbClr val="E4F3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400" b="1">
                <a:solidFill>
                  <a:srgbClr val="0D6B48"/>
                </a:solidFill>
                <a:latin typeface="Arial"/>
              </a:defRPr>
            </a:pPr>
            <a:r>
              <a:t>CapitalX Portfolio Intelligence &amp; Risk Terminal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Quantitative Optimization Engine: Solves for the Maximum Sharpe Ratio (Tangency) and Minimum Volatility portfolios using convex quadratic programming.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Spectral Diversification (N_eff): Uses Shannon entropy of correlation eigenvalues to detect false diversification.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AI CIO &amp; Plain-English Diagnostics: Automatically generates a fiduciary executive memo and a humorous 'Roast My Portfolio' breakdown.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1-Click Crisis Simulator &amp; What-If Sandbox: Tests allocations against historical market crashes (COVID, 2022 rate hike) with 1-click hedge injections.</a:t>
            </a:r>
          </a:p>
          <a:p>
            <a:pPr>
              <a:spcAft>
                <a:spcPts val="600"/>
              </a:spcAft>
              <a:defRPr sz="1050">
                <a:solidFill>
                  <a:srgbClr val="1F2937"/>
                </a:solidFill>
                <a:latin typeface="Arial"/>
              </a:defRPr>
            </a:pPr>
            <a:r>
              <a:t>• Actionable Trade Ticket: Generates copyable BUY/SELL/HOLD order execution instructions.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6B48"/>
                </a:solidFill>
                <a:latin typeface="Arial Black"/>
              </a:defRPr>
            </a:pPr>
            <a:r>
              <a:t>TECHNOLOGY</a:t>
            </a:r>
            <a:br/>
            <a: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5486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6B48"/>
                </a:solidFill>
                <a:latin typeface="Arial Black"/>
              </a:defRPr>
            </a:pPr>
            <a:r>
              <a:t>TARGET</a:t>
            </a:r>
            <a:br/>
            <a:r>
              <a:t>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50" b="1">
                <a:solidFill>
                  <a:srgbClr val="0D6B48"/>
                </a:solidFill>
                <a:latin typeface="Arial"/>
              </a:defRPr>
            </a:pPr>
            <a:r>
              <a:t>DATA SOURCE</a:t>
            </a:r>
          </a:p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yfinance</a:t>
            </a:r>
          </a:p>
          <a:p>
            <a:pPr>
              <a:defRPr sz="800">
                <a:solidFill>
                  <a:srgbClr val="4B5563"/>
                </a:solidFill>
                <a:latin typeface="Arial"/>
              </a:defRPr>
            </a:pPr>
            <a:r>
              <a:t>• Historical OHLCV data</a:t>
            </a:r>
            <a:br/>
            <a:r>
              <a:t>• Automated daily log returns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64592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50" b="1">
                <a:solidFill>
                  <a:srgbClr val="0D6B48"/>
                </a:solidFill>
                <a:latin typeface="Arial"/>
              </a:defRPr>
            </a:pPr>
            <a:r>
              <a:t>COMPUTATION</a:t>
            </a:r>
          </a:p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Python, NumPy &amp; Pandas</a:t>
            </a:r>
          </a:p>
          <a:p>
            <a:pPr>
              <a:defRPr sz="800">
                <a:solidFill>
                  <a:srgbClr val="4B5563"/>
                </a:solidFill>
                <a:latin typeface="Arial"/>
              </a:defRPr>
            </a:pPr>
            <a:r>
              <a:t>• Log returns &amp; Ledoit-Wolf cov</a:t>
            </a:r>
            <a:br/>
            <a:r>
              <a:t>• Eigenvalue decomposition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50" b="1">
                <a:solidFill>
                  <a:srgbClr val="0D6B48"/>
                </a:solidFill>
                <a:latin typeface="Arial"/>
              </a:defRPr>
            </a:pPr>
            <a:r>
              <a:t>OPTIMIZATION</a:t>
            </a:r>
          </a:p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SciPy &amp; CVXPY</a:t>
            </a:r>
          </a:p>
          <a:p>
            <a:pPr>
              <a:defRPr sz="800">
                <a:solidFill>
                  <a:srgbClr val="4B5563"/>
                </a:solidFill>
                <a:latin typeface="Arial"/>
              </a:defRPr>
            </a:pPr>
            <a:r>
              <a:t>• Quadratic programming (SLSQP/OSQP)</a:t>
            </a:r>
            <a:br/>
            <a:r>
              <a:t>• Charnes-Cooper Tangency 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329184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50" b="1">
                <a:solidFill>
                  <a:srgbClr val="0D6B48"/>
                </a:solidFill>
                <a:latin typeface="Arial"/>
              </a:defRPr>
            </a:pPr>
            <a:r>
              <a:t>BACKEND ENGINE</a:t>
            </a:r>
          </a:p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FastAPI (Async)</a:t>
            </a:r>
          </a:p>
          <a:p>
            <a:pPr>
              <a:defRPr sz="800">
                <a:solidFill>
                  <a:srgbClr val="4B5563"/>
                </a:solidFill>
                <a:latin typeface="Arial"/>
              </a:defRPr>
            </a:pPr>
            <a:r>
              <a:t>• High-performance REST endpoints</a:t>
            </a:r>
            <a:br/>
            <a:r>
              <a:t>• Robust 3-tier solver fallbacks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3776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50" b="1">
                <a:solidFill>
                  <a:srgbClr val="0D6B48"/>
                </a:solidFill>
                <a:latin typeface="Arial"/>
              </a:defRPr>
            </a:pPr>
            <a:r>
              <a:t>AI &amp; RISK ANALYTICS</a:t>
            </a:r>
          </a:p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Cornish-Fisher &amp; Spectral Engine</a:t>
            </a:r>
          </a:p>
          <a:p>
            <a:pPr>
              <a:defRPr sz="800">
                <a:solidFill>
                  <a:srgbClr val="4B5563"/>
                </a:solidFill>
                <a:latin typeface="Arial"/>
              </a:defRPr>
            </a:pPr>
            <a:r>
              <a:t>• VaR 95%, CVaR, Sortino ratio</a:t>
            </a:r>
            <a:br/>
            <a:r>
              <a:t>• Plain-English AI memo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93776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sz="850" b="1">
                <a:solidFill>
                  <a:srgbClr val="0D6B48"/>
                </a:solidFill>
                <a:latin typeface="Arial"/>
              </a:defRPr>
            </a:pPr>
            <a:r>
              <a:t>FRONTEND &amp; EXPORT</a:t>
            </a:r>
          </a:p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HTML5, Vanilla JS &amp; Chart.js</a:t>
            </a:r>
          </a:p>
          <a:p>
            <a:pPr>
              <a:defRPr sz="800">
                <a:solidFill>
                  <a:srgbClr val="4B5563"/>
                </a:solidFill>
                <a:latin typeface="Arial"/>
              </a:defRPr>
            </a:pPr>
            <a:r>
              <a:t>• Sub-50ms reactive charts</a:t>
            </a:r>
            <a:br/>
            <a:r>
              <a:t>• 1-Click PDF Tear Sheet print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3931920" cy="4754880"/>
          </a:xfrm>
          <a:prstGeom prst="roundRect">
            <a:avLst/>
          </a:prstGeom>
          <a:solidFill>
            <a:srgbClr val="E4F3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Bef>
                <a:spcPts val="0"/>
              </a:spcBef>
              <a:defRPr sz="1150" b="1">
                <a:solidFill>
                  <a:srgbClr val="0D6B48"/>
                </a:solidFill>
                <a:latin typeface="Arial"/>
              </a:defRPr>
            </a:pPr>
            <a:r>
              <a:t>RETAIL INVESTORS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Analyze existing stock holdings, uncover hidden correlations, and generate exact rebalance orders.</a:t>
            </a:r>
          </a:p>
          <a:p>
            <a:pPr>
              <a:spcBef>
                <a:spcPts val="800"/>
              </a:spcBef>
              <a:defRPr sz="1150" b="1">
                <a:solidFill>
                  <a:srgbClr val="0D6B48"/>
                </a:solidFill>
                <a:latin typeface="Arial"/>
              </a:defRPr>
            </a:pPr>
            <a:r>
              <a:t>BEGINNER INVESTORS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Understand risk, return, and diversification visually with an intuitive Health Score and Roast Mode.</a:t>
            </a:r>
          </a:p>
          <a:p>
            <a:pPr>
              <a:spcBef>
                <a:spcPts val="800"/>
              </a:spcBef>
              <a:defRPr sz="1150" b="1">
                <a:solidFill>
                  <a:srgbClr val="0D6B48"/>
                </a:solidFill>
                <a:latin typeface="Arial"/>
              </a:defRPr>
            </a:pPr>
            <a:r>
              <a:t>STUDENTS &amp; RESEARCHERS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Learn real-world applications of Modern Portfolio Theory, Ledoit-Wolf shrinkage, and spectral factor analysis.</a:t>
            </a:r>
          </a:p>
          <a:p>
            <a:pPr>
              <a:spcBef>
                <a:spcPts val="800"/>
              </a:spcBef>
              <a:defRPr sz="1150" b="1">
                <a:solidFill>
                  <a:srgbClr val="0D6B48"/>
                </a:solidFill>
                <a:latin typeface="Arial"/>
              </a:defRPr>
            </a:pPr>
            <a:r>
              <a:t>WEALTH ADVISORS (RIAs)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Generate client-ready 1-page institutional tear sheets and stress-test portfolios against historical crises.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6B48"/>
                </a:solidFill>
                <a:latin typeface="Arial Black"/>
              </a:defRPr>
            </a:pPr>
            <a:r>
              <a:t>WORKFLOW AND METHODOLOGY</a:t>
            </a:r>
            <a:br/>
            <a:r>
              <a:t>HOW THE TOOL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94560"/>
            <a:ext cx="19659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800"/>
              </a:spcAft>
              <a:defRPr sz="1400">
                <a:solidFill>
                  <a:srgbClr val="EAB308"/>
                </a:solidFill>
                <a:latin typeface="Arial Black"/>
              </a:defRPr>
            </a:pPr>
            <a:r>
              <a:t>STEP 01</a:t>
            </a:r>
          </a:p>
          <a:p>
            <a:pPr>
              <a:spcAft>
                <a:spcPts val="12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USER INPUT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Enter tickers (stocks, ETFs, gold, crypto), initial weights, and lookback window (1-5 yrs).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8376" y="2194560"/>
            <a:ext cx="19659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800"/>
              </a:spcAft>
              <a:defRPr sz="1400">
                <a:solidFill>
                  <a:srgbClr val="EAB308"/>
                </a:solidFill>
                <a:latin typeface="Arial Black"/>
              </a:defRPr>
            </a:pPr>
            <a:r>
              <a:t>STEP 02</a:t>
            </a:r>
          </a:p>
          <a:p>
            <a:pPr>
              <a:spcAft>
                <a:spcPts val="12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DATA INGESTION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Fetch historical closing prices via yfinance &amp; calculate continuous daily log returns.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02352" y="2194560"/>
            <a:ext cx="19659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800"/>
              </a:spcAft>
              <a:defRPr sz="1400">
                <a:solidFill>
                  <a:srgbClr val="EAB308"/>
                </a:solidFill>
                <a:latin typeface="Arial Black"/>
              </a:defRPr>
            </a:pPr>
            <a:r>
              <a:t>STEP 03</a:t>
            </a:r>
          </a:p>
          <a:p>
            <a:pPr>
              <a:spcAft>
                <a:spcPts val="12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RISK ANALYSIS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Compute Ledoit-Wolf covariance, Pearson correlation, and Effective Bets (Shannon entropy).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96328" y="2194560"/>
            <a:ext cx="19659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800"/>
              </a:spcAft>
              <a:defRPr sz="1400">
                <a:solidFill>
                  <a:srgbClr val="EAB308"/>
                </a:solidFill>
                <a:latin typeface="Arial Black"/>
              </a:defRPr>
            </a:pPr>
            <a:r>
              <a:t>STEP 04</a:t>
            </a:r>
          </a:p>
          <a:p>
            <a:pPr>
              <a:spcAft>
                <a:spcPts val="12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OPTIMIZATION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Run convex quadratic solvers (CVXPY/SciPy) for Tangency (Max Sharpe) &amp; GMV portfolios.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90304" y="2194560"/>
            <a:ext cx="196596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800"/>
              </a:spcAft>
              <a:defRPr sz="1400">
                <a:solidFill>
                  <a:srgbClr val="EAB308"/>
                </a:solidFill>
                <a:latin typeface="Arial Black"/>
              </a:defRPr>
            </a:pPr>
            <a:r>
              <a:t>STEP 05</a:t>
            </a:r>
          </a:p>
          <a:p>
            <a:pPr>
              <a:spcAft>
                <a:spcPts val="12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DIAGNOSTICS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Generate Health Score (0-100), AI CIO Memo, Crisis Stress Replay, and Trade Tickets.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6B48"/>
                </a:solidFill>
                <a:latin typeface="Arial Black"/>
              </a:defRPr>
            </a:pPr>
            <a:r>
              <a:t>CORE QUANTITATIVE ENGINE</a:t>
            </a:r>
            <a:br/>
            <a:r>
              <a:t>WHAT THE USER GETS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937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CORRELATION HEATMAP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Interactive color-coded grid revealing pairwise Pearson correlations and identifying hidden asset collinearity.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4937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ASSET VOLATILITY ANALYSIS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Compares individual annualized asset volatilities against current and optimal portfolio volatility.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4937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CURRENT VS OPTIMIZED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Side-by-side metric comparison: Expected Return, Volatility, Sharpe Ratio, and Sortino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4937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EFFICIENT FRONTIER PLOT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Interactive Markowitz scatter plot visualizing the entire hyperbola of efficient portfolios with tangent ray.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4937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ROLLING STRESS VOLATILITY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63-day rolling volatility time-series tracking how portfolio risk behaved during historical turbulence.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937760"/>
            <a:ext cx="4937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ACTIONABLE REBALANCE TABLE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Exact percentage adjustments (Delta w) with clear BUY, SELL, or HOLD execution tags.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6B48"/>
                </a:solidFill>
                <a:latin typeface="Arial Black"/>
              </a:defRPr>
            </a:pPr>
            <a:r>
              <a:t>NEW HACKATHON INNOVATIONS</a:t>
            </a:r>
            <a:br/>
            <a:r>
              <a:t>AI INTELLIGENCE &amp; CRISIS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937760" cy="1371600"/>
          </a:xfrm>
          <a:prstGeom prst="roundRect">
            <a:avLst/>
          </a:prstGeom>
          <a:solidFill>
            <a:srgbClr val="E4F3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★ PORTFOLIO HEALTH SCORE (0-100)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Multi-pillar rating (Grade A+ to F) evaluating Diversification (N_eff), Sharpe Efficiency, Volatility Discipline, and Tail Resilience.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28800"/>
            <a:ext cx="4937760" cy="1371600"/>
          </a:xfrm>
          <a:prstGeom prst="roundRect">
            <a:avLst/>
          </a:prstGeom>
          <a:solidFill>
            <a:srgbClr val="E4F3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★ DUAL-VOICE AI COMMENTARY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Toggle between an Institutional Fiduciary Memo (BlackRock-style risk thesis) and a hilarious 'Roast My Portfolio' mode exposing retail habits.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4937760" cy="1371600"/>
          </a:xfrm>
          <a:prstGeom prst="roundRect">
            <a:avLst/>
          </a:prstGeom>
          <a:solidFill>
            <a:srgbClr val="E4F3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★ 1-CLICK MACRO CRISIS SIMULATOR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Replays the portfolio against 2020 COVID, 2022 Fed Rate Shock, 2008 Lehman GFC, and 1970s Stagflation with exact drawdown cushions.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4937760" cy="1371600"/>
          </a:xfrm>
          <a:prstGeom prst="roundRect">
            <a:avLst/>
          </a:prstGeom>
          <a:solidFill>
            <a:srgbClr val="E4F3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★ INTERACTIVE 'WHAT-IF' SANDBOX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Quick-injection testing of Gold (+GLD), Treasuries (+TLT), Bitcoin (+BTC), and Cash with 1-click portfolio table injection.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4937760" cy="1371600"/>
          </a:xfrm>
          <a:prstGeom prst="roundRect">
            <a:avLst/>
          </a:prstGeom>
          <a:solidFill>
            <a:srgbClr val="E4F3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★ 1-CLICK BROKER TRADE TICKET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Generates formatted, copyable BUY/SELL orders ready to paste directly into any brokerage terminal.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937760"/>
            <a:ext cx="4937760" cy="1371600"/>
          </a:xfrm>
          <a:prstGeom prst="roundRect">
            <a:avLst/>
          </a:prstGeom>
          <a:solidFill>
            <a:srgbClr val="E4F3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D6B48"/>
                </a:solidFill>
                <a:latin typeface="Arial"/>
              </a:defRPr>
            </a:pPr>
            <a:r>
              <a:t>★ INSTITUTIONAL TEAR SHEET EXPORT</a:t>
            </a:r>
          </a:p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r>
              <a:t>1-Click PDF print export that transforms the dashboard into a clean, 1-page institutional investment deck.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6B48"/>
                </a:solidFill>
                <a:latin typeface="Arial Black"/>
              </a:defRPr>
            </a:pPr>
            <a:r>
              <a:t>FUTURE</a:t>
            </a:r>
            <a:br/>
            <a:r>
              <a:t>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7315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6B48"/>
                </a:solidFill>
                <a:latin typeface="Arial Black"/>
              </a:defRPr>
            </a:pPr>
            <a:r>
              <a:t>PROJECT</a:t>
            </a:r>
            <a:br/>
            <a:r>
              <a:t>VALUE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Bef>
                <a:spcPts val="0"/>
              </a:spcBef>
              <a:defRPr sz="1100" b="1">
                <a:solidFill>
                  <a:srgbClr val="0D6B48"/>
                </a:solidFill>
                <a:latin typeface="Arial"/>
              </a:defRPr>
            </a:pPr>
            <a:r>
              <a:t>• Direct Broker Execution APIs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Integrate with Alpaca and Interactive Brokers to execute recommended rebalancing trade tickets with 1 click.</a:t>
            </a:r>
          </a:p>
          <a:p>
            <a:pPr>
              <a:spcBef>
                <a:spcPts val="600"/>
              </a:spcBef>
              <a:defRPr sz="1100" b="1">
                <a:solidFill>
                  <a:srgbClr val="0D6B48"/>
                </a:solidFill>
                <a:latin typeface="Arial"/>
              </a:defRPr>
            </a:pPr>
            <a:r>
              <a:t>• Tax-Loss Harvesting &amp; Capital Gains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Optimize rebalancing frequency to minimize short-term capital gains taxes while keeping portfolio near tangency.</a:t>
            </a:r>
          </a:p>
          <a:p>
            <a:pPr>
              <a:spcBef>
                <a:spcPts val="600"/>
              </a:spcBef>
              <a:defRPr sz="1100" b="1">
                <a:solidFill>
                  <a:srgbClr val="0D6B48"/>
                </a:solidFill>
                <a:latin typeface="Arial"/>
              </a:defRPr>
            </a:pPr>
            <a:r>
              <a:t>• Factor-Tilt Constraints (Fama-French)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Allow investors to constrain portfolios to Value, Momentum, Quality, or Low-Beta multi-factor regimes.</a:t>
            </a:r>
          </a:p>
          <a:p>
            <a:pPr>
              <a:spcBef>
                <a:spcPts val="600"/>
              </a:spcBef>
              <a:defRPr sz="1100" b="1">
                <a:solidFill>
                  <a:srgbClr val="0D6B48"/>
                </a:solidFill>
                <a:latin typeface="Arial"/>
              </a:defRPr>
            </a:pPr>
            <a:r>
              <a:t>• Real-Time Intraday Alerts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Send Discord/Telegram/Email notifications when portfolio weights drift beyond acceptable risk thresholds.</a:t>
            </a:r>
          </a:p>
          <a:p>
            <a:pPr>
              <a:spcBef>
                <a:spcPts val="600"/>
              </a:spcBef>
              <a:defRPr sz="1100" b="1">
                <a:solidFill>
                  <a:srgbClr val="0D6B48"/>
                </a:solidFill>
                <a:latin typeface="Arial"/>
              </a:defRPr>
            </a:pPr>
            <a:r>
              <a:t>• ESG &amp; Sustainable Investing Filters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Integrate ESG risk scores to filter out high-carbon or controversial assets.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4297680"/>
          </a:xfrm>
          <a:prstGeom prst="roundRect">
            <a:avLst/>
          </a:prstGeom>
          <a:solidFill>
            <a:srgbClr val="E4F3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Bef>
                <a:spcPts val="0"/>
              </a:spcBef>
              <a:defRPr sz="1100" b="1">
                <a:solidFill>
                  <a:srgbClr val="0D6B48"/>
                </a:solidFill>
                <a:latin typeface="Arial"/>
              </a:defRPr>
            </a:pPr>
            <a:r>
              <a:t>• Democratizes Hedge-Fund Math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Brings \$24k/year institutional tools (Ledoit-Wolf shrinkage, Charnes-Cooper QP, Cornish-Fisher VaR) to everyday retail investors.</a:t>
            </a:r>
          </a:p>
          <a:p>
            <a:pPr>
              <a:spcBef>
                <a:spcPts val="800"/>
              </a:spcBef>
              <a:defRPr sz="1100" b="1">
                <a:solidFill>
                  <a:srgbClr val="0D6B48"/>
                </a:solidFill>
                <a:latin typeface="Arial"/>
              </a:defRPr>
            </a:pPr>
            <a:r>
              <a:t>• Eliminates the 'Illusion of Diversification'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Exposes false diversification before catastrophic drawdowns happen, protecting user savings.</a:t>
            </a:r>
          </a:p>
          <a:p>
            <a:pPr>
              <a:spcBef>
                <a:spcPts val="800"/>
              </a:spcBef>
              <a:defRPr sz="1100" b="1">
                <a:solidFill>
                  <a:srgbClr val="0D6B48"/>
                </a:solidFill>
                <a:latin typeface="Arial"/>
              </a:defRPr>
            </a:pPr>
            <a:r>
              <a:t>• Makes Quantitative Analytics Actionable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Converts dry covariance matrices and Greek letters into exact trade instructions and clear plain-English summaries.</a:t>
            </a:r>
          </a:p>
          <a:p>
            <a:pPr>
              <a:spcBef>
                <a:spcPts val="800"/>
              </a:spcBef>
              <a:defRPr sz="1100" b="1">
                <a:solidFill>
                  <a:srgbClr val="0D6B48"/>
                </a:solidFill>
                <a:latin typeface="Arial"/>
              </a:defRPr>
            </a:pPr>
            <a:r>
              <a:t>• Engaging &amp; Educational</a:t>
            </a:r>
          </a:p>
          <a:p>
            <a:pPr>
              <a:defRPr sz="950">
                <a:solidFill>
                  <a:srgbClr val="1F2937"/>
                </a:solidFill>
                <a:latin typeface="Arial"/>
              </a:defRPr>
            </a:pPr>
            <a:r>
              <a:t>With Health Scores and Roast Mode, learning Modern Portfolio Theory becomes fun, viral, and immediately useful.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18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 tIns="548640"/>
          <a:lstStyle/>
          <a:p>
            <a:pPr algn="ctr">
              <a:spcAft>
                <a:spcPts val="1400"/>
              </a:spcAft>
              <a:defRPr sz="3200" b="1">
                <a:solidFill>
                  <a:srgbClr val="0D6B48"/>
                </a:solidFill>
                <a:latin typeface="Arial Black"/>
              </a:defRPr>
            </a:pPr>
            <a:r>
              <a:t>CONCLUSION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CapitalX bridges the gap between complex quantitative portfolio theory and real-world investor decisions.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By combining automated market data ingestion, robust matrix shrinkage, and convex quadratic programming with an intuitive AI diagnostic layer, CapitalX turns dry statistics into a visual, data-driven decision-support tool.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From identifying hidden correlations to running historical crisis stress tests and generating broker-ready trade tickets, CapitalX empowers investors to build truly resilient, mathematically optimal portfolios with confidence.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rial"/>
              </a:defRPr>
            </a:pPr>
            <a:r>
              <a:t>Live Terminal Demo: http://localhost:3000 | Backend API Engine: http://localhost:8000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